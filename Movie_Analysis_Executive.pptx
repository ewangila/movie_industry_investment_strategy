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7FE89-E770-4099-B16A-305F697F6A5E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56C45-82CF-4394-92F2-A9D6A4B4D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7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MOVIE STUDIO PRODUCTION ANALYSIS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D4AF37"/>
                </a:solidFill>
              </a:rPr>
              <a:t>Investment Strategy &amp; Market Positioning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5F6F7"/>
                </a:solidFill>
              </a:rPr>
              <a:t>Prepared by: Eugin Wangila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EXECUTIVE SUMMARY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F5F6F7"/>
          </a:solidFill>
          <a:ln w="381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📅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May–July &amp; Nov–Dec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</a:rPr>
              <a:t>Optimal Release Window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F5F6F7"/>
          </a:solidFill>
          <a:ln w="381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🎬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Animation (179% ROI)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</a:rPr>
              <a:t>Top Performing Genre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F5F6F7"/>
          </a:solidFill>
          <a:ln w="381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</a:rPr>
              <a:t>💰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202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Optimize for Expected Return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88888"/>
                </a:solidFill>
              </a:rPr>
              <a:t>Budget Strategy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8D4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</a:rPr>
              <a:t>Strategic Finding: Historical data identifies clear patterns for risk mitigation and ROI optimization. Genre selection combined with strategic timing creates competitive advantage.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MARKET OPPORTUNITY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Business Challenge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54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• Limited production experience in competitive market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• Significant capital investment required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• Need data-backed decision framework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• Portfolio timing affects ROI significantly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3474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Data-Driven Solution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554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✓ Historical market analysis across 5 data sources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40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✓ Genre performance benchmarking &amp; ROI ranking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✓ Seasonal release optimization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118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✓ Budget-to-revenue correlation analysis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METHODOLOGY &amp; DATA SOURCES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Data Sources: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463040" cy="41148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44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IMDb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103120" y="1417320"/>
            <a:ext cx="1463040" cy="41148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444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Box Office Mojo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749040" y="1417320"/>
            <a:ext cx="1463040" cy="41148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444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TMDB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94960" y="1417320"/>
            <a:ext cx="1463040" cy="41148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1444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Rotten Tomatoes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1463040" cy="41148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1444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The Numbers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Analysis Framework: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6858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■ Release Timing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Monthly performance patterns and seasonal trends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410712"/>
            <a:ext cx="8229600" cy="6858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429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■ Genre Analysis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3429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ROI benchmarking across 10+ genres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■ Financial Impact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3200400" y="4251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Budget-to-revenue correlation and efficiency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FINDING 1: OPTIMAL RELEASE WINDOWS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2918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Prime Windows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D4B8"/>
                </a:solidFill>
              </a:rPr>
              <a:t>May–July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$162.3M Avg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CCCCC"/>
                </a:solidFill>
              </a:rPr>
              <a:t>Primary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8D4B8"/>
                </a:solidFill>
              </a:rPr>
              <a:t>November–Dec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$135.7M Avg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CCCCC"/>
                </a:solidFill>
              </a:rPr>
              <a:t>Secondary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023360" cy="329184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Strategic Implications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Avoid weak periods (Jan, Sept, Oct)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Coordinate production timelines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Align marketing budgets with launch windows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Consider competitive releases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FINDING 2: GENRE ROI RANKINGS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77777"/>
                </a:solidFill>
              </a:rPr>
              <a:t>Top-Performing Genres by Median Return on Investment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6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533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Animation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53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smtClean="0">
                <a:solidFill>
                  <a:srgbClr val="2C3E50"/>
                </a:solidFill>
              </a:rPr>
              <a:t>179%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39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Mystery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0391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smtClean="0">
                <a:solidFill>
                  <a:srgbClr val="2C3E50"/>
                </a:solidFill>
              </a:rPr>
              <a:t>151%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6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5176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3449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7249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Adventure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7249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smtClean="0">
                <a:solidFill>
                  <a:srgbClr val="2C3E50"/>
                </a:solidFill>
              </a:rPr>
              <a:t>145%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6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3756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3449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10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Sci-Fi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34107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smtClean="0">
                <a:solidFill>
                  <a:srgbClr val="2C3E50"/>
                </a:solidFill>
              </a:rPr>
              <a:t>138%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5F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0233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34495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0965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Comedy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0965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 smtClean="0">
                <a:solidFill>
                  <a:srgbClr val="2C3E50"/>
                </a:solidFill>
              </a:rPr>
              <a:t>105%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685800"/>
          </a:xfrm>
          <a:prstGeom prst="rect">
            <a:avLst/>
          </a:prstGeom>
          <a:solidFill>
            <a:srgbClr val="E8D4B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663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</a:rPr>
              <a:t>Key Insight: Animation demonstrates 79% higher ROI than Comedy. Genre selection is critical to portfolio performance.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FINDING 3: BUDGET-TO-PERFORMANCE RELATIONSHIP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017520"/>
          </a:xfrm>
          <a:prstGeom prst="rect">
            <a:avLst/>
          </a:prstGeom>
          <a:solidFill>
            <a:srgbClr val="F5F6F7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7AE60"/>
                </a:solidFill>
              </a:rPr>
              <a:t>↑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7AE60"/>
                </a:solidFill>
              </a:rPr>
              <a:t>Positive Correlation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4A4A"/>
                </a:solidFill>
              </a:rPr>
              <a:t>Higher budgets generally correlate with higher worldwide gross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743200" cy="3017520"/>
          </a:xfrm>
          <a:prstGeom prst="rect">
            <a:avLst/>
          </a:prstGeom>
          <a:solidFill>
            <a:srgbClr val="F5F6F7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67E22"/>
                </a:solidFill>
              </a:rPr>
              <a:t>≠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E67E22"/>
                </a:solidFill>
              </a:rPr>
              <a:t>Non-Deterministic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14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4A4A"/>
                </a:solidFill>
              </a:rPr>
              <a:t>Budget size alone does not guarantee commercial success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3017520"/>
          </a:xfrm>
          <a:prstGeom prst="rect">
            <a:avLst/>
          </a:prstGeom>
          <a:solidFill>
            <a:srgbClr val="F5F6F7"/>
          </a:solidFill>
          <a:ln w="38100">
            <a:solidFill>
              <a:srgbClr val="3449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4495E"/>
                </a:solidFill>
              </a:rPr>
              <a:t>○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28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4495E"/>
                </a:solidFill>
              </a:rPr>
              <a:t>Quality Weak Link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14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A4A4A"/>
                </a:solidFill>
              </a:rPr>
              <a:t>Minimal correlation between budget and audience ratings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STRATEGIC RECOMMENDATIONS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320040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P1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155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Genre Portfolio Strategy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8132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Prioritize Animation, Mystery, &amp; Adventure for core slate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Target 179% median ROI from Animation genre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57200" cy="320040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P2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500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Release Timing Optimization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157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Target May–July window for major releases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358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Coordinate secondary releases for Nov–Dec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57200" cy="320040"/>
          </a:xfrm>
          <a:prstGeom prst="round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P3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844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Budget Allocation Framework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502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Optimize budgets by expected ROI, not size alone</a:t>
            </a:r>
            <a:endParaRPr lang="en-US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7024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Account for genre and seasonal dynamics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RISK CONSIDERATIONS &amp; LIMITATIONS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67E22"/>
                </a:solidFill>
              </a:rPr>
              <a:t>Known Limitations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⚠ Historical patterns ≠ future guarantees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⚠ ROI excludes marketing &amp; distribution costs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⚠ Market conditions may shift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⚠ Individual film execution varies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AE60"/>
                </a:solidFill>
              </a:rPr>
              <a:t>Risk Mitigation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63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Use data as one input, not sole decision driver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Diversify across high-ROI genres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Monitor market trends in real-time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4A4A"/>
                </a:solidFill>
              </a:rPr>
              <a:t>✓ Build flexibility into production timeline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C3E50"/>
                </a:solidFill>
              </a:rPr>
              <a:t>INVESTMENT DECISION FRAMEWORK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50876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3258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1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Genre Selection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</a:rPr>
              <a:t>Prioritize high-ROI genres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48840" y="2468880"/>
            <a:ext cx="3657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1188720"/>
            <a:ext cx="150876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3258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8892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2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1488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Budget Setting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560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</a:rPr>
              <a:t>Optimize by expected ROI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31920" y="2468880"/>
            <a:ext cx="3657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0" y="1188720"/>
            <a:ext cx="150876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3258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3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1488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Release Timing</a:t>
            </a:r>
            <a:endParaRPr lang="en-US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560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</a:rPr>
              <a:t>Target prime windows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715000" y="2468880"/>
            <a:ext cx="3657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150876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3258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4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5989320" y="21488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Marketing Strategy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560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C3E50"/>
                </a:solidFill>
              </a:rPr>
              <a:t>Tailor to audience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498080" y="2468880"/>
            <a:ext cx="3657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80960" y="1188720"/>
            <a:ext cx="1508760" cy="256032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3258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0" y="1344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</a:rPr>
              <a:t>5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7772400" y="21488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Investment</a:t>
            </a:r>
            <a:endParaRPr lang="en-US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256032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</a:rPr>
              <a:t>Go/No-go decision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NEXT STEPS &amp; IMPLEMENTATION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34495E">
              <a:alpha val="8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IMMEDIATE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087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Approve genre and budget framework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6479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Finalize release strategy for Year 1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34495E">
              <a:alpha val="8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21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30 DAYS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Develop detailed production roadmap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1635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Identify key talent and production partners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34495E">
              <a:alpha val="8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F37"/>
                </a:solidFill>
              </a:rPr>
              <a:t>Q2</a:t>
            </a:r>
            <a:endParaRPr lang="en-US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611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Launch first slate of projects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67912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→ Establish portfolio monitoring dashboard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2045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4AF37"/>
                </a:solidFill>
              </a:rPr>
              <a:t>Data-Driven Excellence in Motion Picture Strategy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0" y="176491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</a:rPr>
              <a:t>Questions &amp; Discussion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-145335" y="239863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5F6F7"/>
                </a:solidFill>
              </a:rPr>
              <a:t>Eugin Wangila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514</Words>
  <Application>Microsoft Office PowerPoint</Application>
  <PresentationFormat>On-screen Show (16:9)</PresentationFormat>
  <Paragraphs>140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2026-08-30T07:51:51Z</dcterms:created>
  <dcterms:modified xsi:type="dcterms:W3CDTF">2026-08-30T07:58:55Z</dcterms:modified>
</cp:coreProperties>
</file>